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4"/>
  </p:sldMasterIdLst>
  <p:notesMasterIdLst>
    <p:notesMasterId r:id="rId17"/>
  </p:notesMasterIdLst>
  <p:handoutMasterIdLst>
    <p:handoutMasterId r:id="rId18"/>
  </p:handoutMasterIdLst>
  <p:sldIdLst>
    <p:sldId id="258" r:id="rId5"/>
    <p:sldId id="259" r:id="rId6"/>
    <p:sldId id="260" r:id="rId7"/>
    <p:sldId id="261" r:id="rId8"/>
    <p:sldId id="262" r:id="rId9"/>
    <p:sldId id="263" r:id="rId10"/>
    <p:sldId id="268" r:id="rId11"/>
    <p:sldId id="264" r:id="rId12"/>
    <p:sldId id="269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30"/>
  </p:normalViewPr>
  <p:slideViewPr>
    <p:cSldViewPr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EFF46E-6B43-41F9-9272-B566D03A25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2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63655" cy="762001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828800"/>
            <a:ext cx="10963656" cy="43434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/>
            </a:lvl1pPr>
            <a:lvl2pPr>
              <a:lnSpc>
                <a:spcPct val="100000"/>
              </a:lnSpc>
              <a:defRPr sz="14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AC2C24E-B95E-481D-968E-0BDCFC72F656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31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AC1F45-7001-8B9F-DFF6-7AB9BDFFEEB2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4C7D192-E835-0A48-0A40-F45D83E2583F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FB376E1-8198-EB00-587E-C647BCF364D4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F94599F-6DE1-A082-E9E1-D732956078A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/>
          <a:p>
            <a:fld id="{1415DC98-F527-4737-A5B9-3597210FA2F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49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1C10CD-8205-284F-2921-9485E7A98F0D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75DFD7E-DC78-4573-96D7-845D38E0273E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FCC10B5-4890-B43F-DE24-5200F4E75EEB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5586E6-D520-6A63-5060-BF06C136BEF5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" y="990600"/>
            <a:ext cx="10058400" cy="502920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11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188889-44B4-42BD-84DC-2D1A93FD44C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899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3" cy="365760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1" y="685800"/>
            <a:ext cx="4572000" cy="36576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EB29E-E91D-4BC9-BE3F-394F6FDC9AC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662DADE-FB83-6BD4-1D72-E22F0783A67E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7CD6A0-64A5-5058-DFD2-8DD1FAF7BEEB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E8E4321-3109-17F5-C530-4108033F07F5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AAD0450-E765-A0E1-7C56-37246411FDD0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03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05E2B5C-398A-3F2F-4BCC-FFF94D44632F}"/>
              </a:ext>
            </a:extLst>
          </p:cNvPr>
          <p:cNvSpPr/>
          <p:nvPr/>
        </p:nvSpPr>
        <p:spPr>
          <a:xfrm>
            <a:off x="11250895" y="5407944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897460-3A7D-EC5C-76B9-2725193E10AF}"/>
              </a:ext>
            </a:extLst>
          </p:cNvPr>
          <p:cNvSpPr/>
          <p:nvPr/>
        </p:nvSpPr>
        <p:spPr>
          <a:xfrm>
            <a:off x="685800" y="5758439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2E741-698E-A2B8-7BD5-9DE89C610C2F}"/>
              </a:ext>
            </a:extLst>
          </p:cNvPr>
          <p:cNvSpPr/>
          <p:nvPr/>
        </p:nvSpPr>
        <p:spPr>
          <a:xfrm>
            <a:off x="10998565" y="5490376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A04551B-2E70-1734-DA15-F26ABEC9D9D0}"/>
              </a:ext>
            </a:extLst>
          </p:cNvPr>
          <p:cNvSpPr/>
          <p:nvPr/>
        </p:nvSpPr>
        <p:spPr>
          <a:xfrm>
            <a:off x="10976145" y="5490381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408358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045390" cy="4083579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AD7DA-2107-4637-8C8D-3B775970879B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66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94DE839-4377-D8CF-B2A4-D0C3E0F49821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A5E5478-C025-8AD6-B7FE-E95C356E887C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0EF54C8-1B9C-18F9-4647-D96F1A37BC05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C1B42D9-101B-9822-0BAF-F80E962BB4CD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85800"/>
            <a:ext cx="3654554" cy="455025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6401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4597AFA7-1C4B-4AAF-9FD8-61D1DA4C999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67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C2E340-F7F3-5093-0E0A-41015057E720}"/>
              </a:ext>
            </a:extLst>
          </p:cNvPr>
          <p:cNvCxnSpPr/>
          <p:nvPr userDrawn="1"/>
        </p:nvCxnSpPr>
        <p:spPr>
          <a:xfrm>
            <a:off x="5191026" y="2362200"/>
            <a:ext cx="6391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026" y="685807"/>
            <a:ext cx="6391374" cy="137200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0729" y="2743204"/>
            <a:ext cx="6395573" cy="3428989"/>
          </a:xfrm>
        </p:spPr>
        <p:txBody>
          <a:bodyPr>
            <a:noAutofit/>
          </a:bodyPr>
          <a:lstStyle>
            <a:lvl1pPr>
              <a:defRPr sz="14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91026" y="6343825"/>
            <a:ext cx="336490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F5F7DF4-8BE0-4832-9230-78DDDEC4B6DD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8936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fld id="{C1166B1E-1AFA-4A7F-9646-409FBAA0A887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62236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9/30/2026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4" y="687787"/>
            <a:ext cx="3363259" cy="199339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1" y="2880360"/>
            <a:ext cx="3363259" cy="327461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212663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224724" y="6343955"/>
            <a:ext cx="922372" cy="365125"/>
          </a:xfrm>
        </p:spPr>
        <p:txBody>
          <a:bodyPr>
            <a:noAutofit/>
          </a:bodyPr>
          <a:lstStyle/>
          <a:p>
            <a:fld id="{AA28231D-ABE1-4859-B037-5D42FA8F485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447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979D7E7-81D7-BD45-ADEC-E83F7EF73EC8}"/>
              </a:ext>
            </a:extLst>
          </p:cNvPr>
          <p:cNvSpPr/>
          <p:nvPr/>
        </p:nvSpPr>
        <p:spPr>
          <a:xfrm>
            <a:off x="11254003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6D6EAAA-843B-4F5B-47BF-3A0B75B59A45}"/>
              </a:ext>
            </a:extLst>
          </p:cNvPr>
          <p:cNvSpPr/>
          <p:nvPr/>
        </p:nvSpPr>
        <p:spPr>
          <a:xfrm>
            <a:off x="10866791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5A4CCB8-341A-D7B3-2B2F-C6943129C281}"/>
              </a:ext>
            </a:extLst>
          </p:cNvPr>
          <p:cNvSpPr/>
          <p:nvPr/>
        </p:nvSpPr>
        <p:spPr>
          <a:xfrm>
            <a:off x="11003886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1B2662-9528-65C6-986B-EA4135BF4CA6}"/>
              </a:ext>
            </a:extLst>
          </p:cNvPr>
          <p:cNvSpPr/>
          <p:nvPr/>
        </p:nvSpPr>
        <p:spPr>
          <a:xfrm>
            <a:off x="10981626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685800"/>
            <a:ext cx="10972800" cy="4514529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sz="7000" b="0" i="0" cap="all" baseline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B608D6C-D0F1-479F-911E-8569D2F1ED15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12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70572EAA-9C03-6737-7961-89F7D9E127AC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D2A1F66-1FB1-8357-178D-CB1C0F8B7E56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D8E75-63C0-8CE8-7E5A-37E4E429140F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DF1B2A2-FEB2-CC42-0F0F-71CD13535424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>
            <a:noAutofit/>
          </a:bodyPr>
          <a:lstStyle>
            <a:lvl1pPr>
              <a:defRPr sz="5400" b="0" i="0" cap="all" baseline="0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85800"/>
            <a:ext cx="10972800" cy="45720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1pPr>
            <a:lvl2pPr marL="2286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2pPr>
            <a:lvl3pPr marL="4572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3pPr>
            <a:lvl4pPr marL="6858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4pPr>
            <a:lvl5pPr marL="914400" indent="0">
              <a:lnSpc>
                <a:spcPct val="90000"/>
              </a:lnSpc>
              <a:buNone/>
              <a:defRPr lang="en-US" sz="7000" b="0" i="0" cap="all" baseline="0" dirty="0">
                <a:latin typeface="+mn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BCFCC67-CBC1-48BE-A467-33E284003C9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5516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965960"/>
            <a:ext cx="5074920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70969" y="1965960"/>
            <a:ext cx="5075237" cy="419576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8CAF44C-1683-44E3-97C5-DF51C69BF7AA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43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9/30/2026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0C8FE45-F91B-4375-B362-4DC6F9A2A304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9015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9/30/2026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10972800" cy="1828800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429000"/>
            <a:ext cx="10972800" cy="2743198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7EC6D5-3C89-D412-4A74-4DD843571D29}"/>
              </a:ext>
            </a:extLst>
          </p:cNvPr>
          <p:cNvCxnSpPr/>
          <p:nvPr userDrawn="1"/>
        </p:nvCxnSpPr>
        <p:spPr>
          <a:xfrm>
            <a:off x="621792" y="2895600"/>
            <a:ext cx="109636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195FFA61-E651-4E50-A159-710A5ED7E6FE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120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AB975A1-C2E9-D1D4-3C6F-7296B13798B1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243F218-F67B-B464-9035-A6AA389E6224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1F0E05A-E796-C1AE-DCB2-706459874FC1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C863187-9C01-45D7-5737-0DEACAA80C83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800"/>
            <a:ext cx="8226424" cy="3725056"/>
          </a:xfrm>
        </p:spPr>
        <p:txBody>
          <a:bodyPr anchor="b">
            <a:noAutofit/>
          </a:bodyPr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7" y="4572000"/>
            <a:ext cx="8226424" cy="1608008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800"/>
            </a:lvl2pPr>
            <a:lvl3pPr marL="457200" indent="0">
              <a:buNone/>
              <a:defRPr sz="1800"/>
            </a:lvl3pPr>
            <a:lvl4pPr marL="685800" indent="0">
              <a:buNone/>
              <a:defRPr sz="1800"/>
            </a:lvl4pPr>
            <a:lvl5pPr marL="914400" indent="0"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8E9E0D87-B7D0-4C2E-BAD1-97A555313A20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5364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9"/>
            <a:ext cx="10963655" cy="9144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600200"/>
            <a:ext cx="10963656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9814657-813A-4D7B-A2F8-E573BA1645D3}" type="datetime1">
              <a:rPr lang="en-US" smtClean="0"/>
              <a:t>9/30/2026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rtl="0">
              <a:defRPr sz="8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4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15" r:id="rId2"/>
    <p:sldLayoutId id="2147484114" r:id="rId3"/>
    <p:sldLayoutId id="2147484116" r:id="rId4"/>
    <p:sldLayoutId id="2147484117" r:id="rId5"/>
    <p:sldLayoutId id="2147484118" r:id="rId6"/>
    <p:sldLayoutId id="2147484120" r:id="rId7"/>
    <p:sldLayoutId id="2147484121" r:id="rId8"/>
    <p:sldLayoutId id="2147484122" r:id="rId9"/>
    <p:sldLayoutId id="2147484169" r:id="rId10"/>
    <p:sldLayoutId id="2147484124" r:id="rId11"/>
    <p:sldLayoutId id="2147484125" r:id="rId12"/>
    <p:sldLayoutId id="2147484126" r:id="rId13"/>
    <p:sldLayoutId id="2147484127" r:id="rId14"/>
    <p:sldLayoutId id="2147484128" r:id="rId15"/>
    <p:sldLayoutId id="2147484129" r:id="rId16"/>
    <p:sldLayoutId id="2147484130" r:id="rId17"/>
    <p:sldLayoutId id="2147484131" r:id="rId18"/>
    <p:sldLayoutId id="2147484132" r:id="rId19"/>
    <p:sldLayoutId id="2147484133" r:id="rId20"/>
    <p:sldLayoutId id="2147484134" r:id="rId21"/>
    <p:sldLayoutId id="2147484135" r:id="rId22"/>
    <p:sldLayoutId id="2147484136" r:id="rId23"/>
    <p:sldLayoutId id="2147484137" r:id="rId24"/>
    <p:sldLayoutId id="2147484138" r:id="rId25"/>
    <p:sldLayoutId id="2147484139" r:id="rId26"/>
    <p:sldLayoutId id="2147484140" r:id="rId27"/>
    <p:sldLayoutId id="2147484141" r:id="rId28"/>
    <p:sldLayoutId id="2147484142" r:id="rId29"/>
    <p:sldLayoutId id="2147484143" r:id="rId30"/>
    <p:sldLayoutId id="2147484144" r:id="rId31"/>
    <p:sldLayoutId id="2147484145" r:id="rId32"/>
    <p:sldLayoutId id="2147484146" r:id="rId33"/>
    <p:sldLayoutId id="2147484147" r:id="rId34"/>
    <p:sldLayoutId id="2147484148" r:id="rId35"/>
    <p:sldLayoutId id="2147484149" r:id="rId36"/>
    <p:sldLayoutId id="2147484150" r:id="rId37"/>
    <p:sldLayoutId id="2147484152" r:id="rId38"/>
    <p:sldLayoutId id="2147484153" r:id="rId39"/>
    <p:sldLayoutId id="2147484157" r:id="rId40"/>
    <p:sldLayoutId id="2147484158" r:id="rId41"/>
    <p:sldLayoutId id="2147484159" r:id="rId42"/>
    <p:sldLayoutId id="2147484160" r:id="rId43"/>
    <p:sldLayoutId id="2147484161" r:id="rId44"/>
    <p:sldLayoutId id="2147484162" r:id="rId45"/>
    <p:sldLayoutId id="2147484163" r:id="rId46"/>
    <p:sldLayoutId id="2147484164" r:id="rId47"/>
    <p:sldLayoutId id="2147484165" r:id="rId48"/>
    <p:sldLayoutId id="2147484166" r:id="rId49"/>
    <p:sldLayoutId id="2147484167" r:id="rId50"/>
    <p:sldLayoutId id="2147484168" r:id="rId5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400" b="0" i="0" kern="1200" cap="all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7" orient="horz" pos="2160">
          <p15:clr>
            <a:srgbClr val="F26B43"/>
          </p15:clr>
        </p15:guide>
        <p15:guide id="28" pos="3840">
          <p15:clr>
            <a:srgbClr val="F26B43"/>
          </p15:clr>
        </p15:guide>
        <p15:guide id="29" pos="7296">
          <p15:clr>
            <a:srgbClr val="F26B43"/>
          </p15:clr>
        </p15:guide>
        <p15:guide id="3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FF4B6-3F85-6E67-ED81-212443682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0CBC46-76F5-CB3F-9BF0-DE7BBD3C6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dirty="0"/>
              <a:t>Personal Knowledge Assistant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CA5C5AD-7278-E875-15B7-835123AC22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Local Retrieval-Augmented Generation (RAG)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5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F4DB7-578F-9B6C-1133-7E7315B3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48" y="2636912"/>
            <a:ext cx="10963655" cy="510952"/>
          </a:xfrm>
        </p:spPr>
        <p:txBody>
          <a:bodyPr/>
          <a:lstStyle/>
          <a:p>
            <a:r>
              <a:rPr lang="en-US" sz="3200" dirty="0"/>
              <a:t>Objective :-</a:t>
            </a: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5AE52D-35A2-8A4E-2296-43B9BB70C7DB}"/>
              </a:ext>
            </a:extLst>
          </p:cNvPr>
          <p:cNvSpPr txBox="1"/>
          <p:nvPr/>
        </p:nvSpPr>
        <p:spPr>
          <a:xfrm>
            <a:off x="765048" y="1349153"/>
            <a:ext cx="98038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Finding specific information in lengthy PDF documents can be time-consuming.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Manually searching across multiple documents can be inefficient.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General-purpose language models may produce answers that are not grounded in the user's documents.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6558C36-ED4B-F707-2942-50F5AA0A6479}"/>
              </a:ext>
            </a:extLst>
          </p:cNvPr>
          <p:cNvSpPr txBox="1">
            <a:spLocks/>
          </p:cNvSpPr>
          <p:nvPr/>
        </p:nvSpPr>
        <p:spPr>
          <a:xfrm>
            <a:off x="765048" y="838201"/>
            <a:ext cx="10963655" cy="51095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400" b="0" i="0" kern="1200" cap="all" spc="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Problem :-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84EF9A-914B-547E-EE39-3BF79D4289D6}"/>
              </a:ext>
            </a:extLst>
          </p:cNvPr>
          <p:cNvSpPr txBox="1"/>
          <p:nvPr/>
        </p:nvSpPr>
        <p:spPr>
          <a:xfrm>
            <a:off x="765048" y="3190910"/>
            <a:ext cx="9003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Develop a local knowledge assistant that can:</a:t>
            </a:r>
          </a:p>
          <a:p>
            <a:r>
              <a:rPr lang="en-IN" dirty="0"/>
              <a:t>Load PDFs → Process → Retrieve → Generate → Display Sources</a:t>
            </a:r>
          </a:p>
        </p:txBody>
      </p:sp>
    </p:spTree>
    <p:extLst>
      <p:ext uri="{BB962C8B-B14F-4D97-AF65-F5344CB8AC3E}">
        <p14:creationId xmlns:p14="http://schemas.microsoft.com/office/powerpoint/2010/main" val="2145062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91C01-F6B3-31B3-E3F6-D863CAF3D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Generative AI &amp; RAG?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05525-16BD-DAC3-8D8A-7B317A04E2BA}"/>
              </a:ext>
            </a:extLst>
          </p:cNvPr>
          <p:cNvSpPr txBox="1"/>
          <p:nvPr/>
        </p:nvSpPr>
        <p:spPr>
          <a:xfrm>
            <a:off x="600594" y="1628800"/>
            <a:ext cx="8807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Generative AI:</a:t>
            </a:r>
          </a:p>
          <a:p>
            <a:r>
              <a:rPr lang="en-IN" dirty="0"/>
              <a:t>AI models that generate content such as text, code, summaries and answers.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A0FD2-B4E2-1DF7-30A4-1B6B57C14B59}"/>
              </a:ext>
            </a:extLst>
          </p:cNvPr>
          <p:cNvSpPr txBox="1"/>
          <p:nvPr/>
        </p:nvSpPr>
        <p:spPr>
          <a:xfrm>
            <a:off x="612648" y="2564904"/>
            <a:ext cx="69413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Retrieval-Augmented Generation (RAG):</a:t>
            </a:r>
            <a:br>
              <a:rPr lang="en-IN" dirty="0"/>
            </a:br>
            <a:r>
              <a:rPr lang="en-IN" dirty="0"/>
              <a:t>A method that combines:</a:t>
            </a:r>
          </a:p>
          <a:p>
            <a:pPr lvl="0"/>
            <a:r>
              <a:rPr lang="en-IN" dirty="0"/>
              <a:t>Retrieval: Finds relevant information from documents.</a:t>
            </a:r>
          </a:p>
          <a:p>
            <a:pPr lvl="0"/>
            <a:r>
              <a:rPr lang="en-IN" dirty="0"/>
              <a:t>Generation: Uses a language model to produce a response based on the retrieved information.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B37564-06FD-B2E2-FC70-705E48CE09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71" r="1782"/>
          <a:stretch>
            <a:fillRect/>
          </a:stretch>
        </p:blipFill>
        <p:spPr>
          <a:xfrm>
            <a:off x="1703513" y="4548454"/>
            <a:ext cx="8856984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70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08D2-1575-AEE1-ABE9-FB4808B7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Implemented System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7B1457-EFB2-0FA1-881F-9B68EF6CD3D2}"/>
              </a:ext>
            </a:extLst>
          </p:cNvPr>
          <p:cNvSpPr txBox="1"/>
          <p:nvPr/>
        </p:nvSpPr>
        <p:spPr>
          <a:xfrm>
            <a:off x="612648" y="1628800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Part 1 :-Document Ingestion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A2A38C-9D92-C357-3A73-744D5FB77D25}"/>
              </a:ext>
            </a:extLst>
          </p:cNvPr>
          <p:cNvSpPr txBox="1"/>
          <p:nvPr/>
        </p:nvSpPr>
        <p:spPr>
          <a:xfrm>
            <a:off x="612648" y="2020513"/>
            <a:ext cx="806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PDF Folder → </a:t>
            </a:r>
            <a:r>
              <a:rPr lang="en-IN" dirty="0" err="1"/>
              <a:t>Docling</a:t>
            </a:r>
            <a:r>
              <a:rPr lang="en-IN" dirty="0"/>
              <a:t> → </a:t>
            </a:r>
            <a:r>
              <a:rPr lang="en-IN" dirty="0" err="1"/>
              <a:t>HybridChunker</a:t>
            </a:r>
            <a:r>
              <a:rPr lang="en-IN" dirty="0"/>
              <a:t> → BGE Embeddings → FAISS Index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8A5E2-2589-1286-DD71-D3A7BEAFE5C5}"/>
              </a:ext>
            </a:extLst>
          </p:cNvPr>
          <p:cNvSpPr txBox="1"/>
          <p:nvPr/>
        </p:nvSpPr>
        <p:spPr>
          <a:xfrm>
            <a:off x="612648" y="2593225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Part 2 :-</a:t>
            </a:r>
            <a:r>
              <a:rPr lang="en-IN" b="1" dirty="0"/>
              <a:t>Question Answering</a:t>
            </a:r>
            <a:endParaRPr lang="en-IN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0F2D9C-9414-3A1A-FEF2-9B0BB3A893DC}"/>
              </a:ext>
            </a:extLst>
          </p:cNvPr>
          <p:cNvSpPr txBox="1"/>
          <p:nvPr/>
        </p:nvSpPr>
        <p:spPr>
          <a:xfrm>
            <a:off x="612648" y="2989389"/>
            <a:ext cx="10678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User Question → Query Embedding → FAISS Search → Top 3 Chunks → Grounded Prompt → Qwen3 8B → Answer + Sources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56321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3A93C-9BF3-3CAE-00A1-1879C355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49" y="404664"/>
            <a:ext cx="10963655" cy="1015008"/>
          </a:xfrm>
        </p:spPr>
        <p:txBody>
          <a:bodyPr/>
          <a:lstStyle/>
          <a:p>
            <a:r>
              <a:rPr lang="en-IN" sz="4000" dirty="0"/>
              <a:t>Document Processing, Chunking &amp; Embeddings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E20DE7-2A9E-6438-7DC5-FD94A207DBA3}"/>
              </a:ext>
            </a:extLst>
          </p:cNvPr>
          <p:cNvSpPr txBox="1"/>
          <p:nvPr/>
        </p:nvSpPr>
        <p:spPr>
          <a:xfrm>
            <a:off x="628291" y="1538899"/>
            <a:ext cx="624562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Document Processing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DocumentConverter</a:t>
            </a:r>
            <a:r>
              <a:rPr lang="en-IN" dirty="0"/>
              <a:t>() converts PDFs using </a:t>
            </a:r>
            <a:r>
              <a:rPr lang="en-IN" dirty="0" err="1"/>
              <a:t>Docling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Converted documents are stored for further processing.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Multiple PDFs are loaded from the configured folder.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5BD4C5-0B9D-02EA-D1F5-760807CBEEBF}"/>
              </a:ext>
            </a:extLst>
          </p:cNvPr>
          <p:cNvSpPr txBox="1"/>
          <p:nvPr/>
        </p:nvSpPr>
        <p:spPr>
          <a:xfrm>
            <a:off x="627133" y="4138050"/>
            <a:ext cx="60945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Embeddings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Model: BAAI/bge-small-en-v1.5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Converts chunk text into 384-dimensional numerical vectors.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Embeddings are normalized before indexing.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F8253-2BDB-A100-B372-04ADAB2A5159}"/>
              </a:ext>
            </a:extLst>
          </p:cNvPr>
          <p:cNvSpPr txBox="1"/>
          <p:nvPr/>
        </p:nvSpPr>
        <p:spPr>
          <a:xfrm>
            <a:off x="628291" y="2828835"/>
            <a:ext cx="60945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Chunking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HybridChunker</a:t>
            </a:r>
            <a:r>
              <a:rPr lang="en-IN" dirty="0"/>
              <a:t>() divides converted documents into smaller chunks.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Each chunk's source filename is preserved.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6775A9-F44C-20DA-E514-7FC8CC867FB9}"/>
              </a:ext>
            </a:extLst>
          </p:cNvPr>
          <p:cNvSpPr txBox="1"/>
          <p:nvPr/>
        </p:nvSpPr>
        <p:spPr>
          <a:xfrm>
            <a:off x="627133" y="5734605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Vector Index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FAISS </a:t>
            </a:r>
            <a:r>
              <a:rPr lang="en-IN" dirty="0" err="1"/>
              <a:t>IndexFlatIP</a:t>
            </a:r>
            <a:r>
              <a:rPr lang="en-IN" dirty="0"/>
              <a:t>(384) stores the embeddings.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Inner product is used to compare normalized vectors.</a:t>
            </a:r>
          </a:p>
        </p:txBody>
      </p:sp>
    </p:spTree>
    <p:extLst>
      <p:ext uri="{BB962C8B-B14F-4D97-AF65-F5344CB8AC3E}">
        <p14:creationId xmlns:p14="http://schemas.microsoft.com/office/powerpoint/2010/main" val="2388666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385B-56A4-BF1E-AA28-62256F77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Retrieval &amp; Response Generation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8FCB79-F4DD-4C86-CC2B-97AE94F2624D}"/>
              </a:ext>
            </a:extLst>
          </p:cNvPr>
          <p:cNvSpPr txBox="1"/>
          <p:nvPr/>
        </p:nvSpPr>
        <p:spPr>
          <a:xfrm>
            <a:off x="2783632" y="1700808"/>
            <a:ext cx="609456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USER QUESTION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Query Embedding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FAISS Search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Top Relevant Document Chunks</a:t>
            </a:r>
          </a:p>
          <a:p>
            <a:pPr algn="ctr"/>
            <a:r>
              <a:rPr lang="en-IN" dirty="0"/>
              <a:t> ↓ </a:t>
            </a:r>
          </a:p>
          <a:p>
            <a:pPr algn="ctr"/>
            <a:r>
              <a:rPr lang="en-IN" dirty="0"/>
              <a:t>Context + User Query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Qwen3 8B </a:t>
            </a:r>
          </a:p>
          <a:p>
            <a:pPr algn="ctr"/>
            <a:r>
              <a:rPr lang="en-IN" dirty="0"/>
              <a:t>↓ </a:t>
            </a:r>
          </a:p>
          <a:p>
            <a:pPr algn="ctr"/>
            <a:r>
              <a:rPr lang="en-IN" dirty="0"/>
              <a:t>Generated Answer with Source Documents &amp; Page Numbers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2280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A45A41-BE6C-1498-8FCF-B12228D07C0D}"/>
              </a:ext>
            </a:extLst>
          </p:cNvPr>
          <p:cNvSpPr txBox="1"/>
          <p:nvPr/>
        </p:nvSpPr>
        <p:spPr>
          <a:xfrm>
            <a:off x="479376" y="692696"/>
            <a:ext cx="986509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User question: The user enters a question in the terminal.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Query embedding: The question is encoded with the same BGE model.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FAISS search: The index searches for the most similar vectors.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Top-3 retrieval: The three highest-scoring chunks are selected.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Context construction: Retrieved text is combined with filenames and page numbers.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Prompt engineering: The prompt instructs the model to answer only from the retrieved context, or state that the context is insufficient.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Answer generation: </a:t>
            </a:r>
            <a:r>
              <a:rPr lang="en-IN" sz="1800" dirty="0" err="1"/>
              <a:t>Ollama</a:t>
            </a:r>
            <a:r>
              <a:rPr lang="en-IN" sz="1800" dirty="0"/>
              <a:t> runs </a:t>
            </a:r>
            <a:r>
              <a:rPr lang="en-IN" sz="1800" dirty="0">
                <a:latin typeface="+mn-lt"/>
              </a:rPr>
              <a:t>qwen3:8b</a:t>
            </a:r>
            <a:r>
              <a:rPr lang="en-IN" sz="1800" dirty="0"/>
              <a:t> to generate the response.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Source display: The answer and retrieved source filenames/page numbers are printed in the terminal.</a:t>
            </a:r>
          </a:p>
        </p:txBody>
      </p:sp>
    </p:spTree>
    <p:extLst>
      <p:ext uri="{BB962C8B-B14F-4D97-AF65-F5344CB8AC3E}">
        <p14:creationId xmlns:p14="http://schemas.microsoft.com/office/powerpoint/2010/main" val="2613386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5EC9A-3600-61D0-B8DE-08EBFC81D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39A69-2173-6AF6-FD4D-1E4AE8A15923}"/>
              </a:ext>
            </a:extLst>
          </p:cNvPr>
          <p:cNvSpPr txBox="1"/>
          <p:nvPr/>
        </p:nvSpPr>
        <p:spPr>
          <a:xfrm>
            <a:off x="627840" y="1556792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dirty="0"/>
            </a:br>
            <a:endParaRPr lang="en-IN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BB44F5A-848A-6ACE-4DF4-FA4D3800B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597392"/>
              </p:ext>
            </p:extLst>
          </p:nvPr>
        </p:nvGraphicFramePr>
        <p:xfrm>
          <a:off x="2639616" y="1808597"/>
          <a:ext cx="5699249" cy="3718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37155">
                  <a:extLst>
                    <a:ext uri="{9D8B030D-6E8A-4147-A177-3AD203B41FA5}">
                      <a16:colId xmlns:a16="http://schemas.microsoft.com/office/drawing/2014/main" val="1675090441"/>
                    </a:ext>
                  </a:extLst>
                </a:gridCol>
                <a:gridCol w="3062094">
                  <a:extLst>
                    <a:ext uri="{9D8B030D-6E8A-4147-A177-3AD203B41FA5}">
                      <a16:colId xmlns:a16="http://schemas.microsoft.com/office/drawing/2014/main" val="23848530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9444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800" dirty="0"/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8749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2.  PDF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 err="1"/>
                        <a:t>Docling</a:t>
                      </a:r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813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3.  Chunking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HybridChunker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8067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4.  Embedding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BAAI/bge-small-en-v1.5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683472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5.  Vector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FAISS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37522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6.  LLM 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Ollama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5128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7.  Language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Qwen3 8B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6059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8.  User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778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053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9B6A-6643-6027-CD5F-3F22091C3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472C-884D-AED6-0964-6D57348E5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34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A98E1-F051-3A6F-A986-E4838005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32656"/>
            <a:ext cx="10963655" cy="762001"/>
          </a:xfrm>
        </p:spPr>
        <p:txBody>
          <a:bodyPr/>
          <a:lstStyle/>
          <a:p>
            <a:r>
              <a:rPr lang="en-IN" sz="4000" dirty="0"/>
              <a:t>Testing, Observations &amp; 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CE636-993A-8A21-30E3-3B3086C13AD0}"/>
              </a:ext>
            </a:extLst>
          </p:cNvPr>
          <p:cNvSpPr txBox="1"/>
          <p:nvPr/>
        </p:nvSpPr>
        <p:spPr>
          <a:xfrm>
            <a:off x="623392" y="1115583"/>
            <a:ext cx="7488832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Testing and observations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Relevance of retrieved chunks for document-based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Accuracy of answers compared with the source PDF. (done)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Correct display of source filenames and page numbers. (done)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Behaviour when the context does not contain the answer. (done)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Ability to ask multiple questions in one session. (done)</a:t>
            </a:r>
          </a:p>
          <a:p>
            <a:pPr lvl="0"/>
            <a:r>
              <a:rPr lang="en-IN" sz="1600" dirty="0"/>
              <a:t> </a:t>
            </a:r>
          </a:p>
          <a:p>
            <a:r>
              <a:rPr lang="en-IN" sz="2000" b="1" dirty="0"/>
              <a:t>Current limitations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Uses terminal-based interaction.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Loads PDFs from a predefined folder rather than supporting in-app uploads.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Builds the FAISS index in memory when the program runs.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Retrieves a fixed top three chunks.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Relies on prompt instructions to encourage grounded answers; the model can still make mistakes.</a:t>
            </a:r>
          </a:p>
        </p:txBody>
      </p:sp>
    </p:spTree>
    <p:extLst>
      <p:ext uri="{BB962C8B-B14F-4D97-AF65-F5344CB8AC3E}">
        <p14:creationId xmlns:p14="http://schemas.microsoft.com/office/powerpoint/2010/main" val="910713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789E0-6AA6-A39C-5226-287F045AC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Learnings &amp; Future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949B53-C5E1-4F5B-5B9D-E8EC06EFD74E}"/>
              </a:ext>
            </a:extLst>
          </p:cNvPr>
          <p:cNvSpPr txBox="1"/>
          <p:nvPr/>
        </p:nvSpPr>
        <p:spPr>
          <a:xfrm>
            <a:off x="612648" y="1556792"/>
            <a:ext cx="609456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learnings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Practical implementation of a RAG pipeline.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Working with PDF conversion and structured document chunks.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Generating and normalizing embeddings.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Implementing vector similarity search using FAISS.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Connecting a locally running LLM to retrieved document context.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Using source information to help verify generated answers.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EAC3B-9B96-3C2A-7AC8-8A37C064130C}"/>
              </a:ext>
            </a:extLst>
          </p:cNvPr>
          <p:cNvSpPr txBox="1"/>
          <p:nvPr/>
        </p:nvSpPr>
        <p:spPr>
          <a:xfrm>
            <a:off x="612648" y="4542156"/>
            <a:ext cx="84249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Future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 a graphical interface using </a:t>
            </a:r>
            <a:r>
              <a:rPr lang="en-IN" dirty="0" err="1"/>
              <a:t>Streamlit</a:t>
            </a:r>
            <a:r>
              <a:rPr lang="en-IN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Persist the FAISS index to avoid rebuilding it on every run.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Experiment with different chunking and retrieval configurations.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Evaluate retrieval quality and answer accuracy with a defined test set.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Add document-management and error-handling features.</a:t>
            </a:r>
          </a:p>
        </p:txBody>
      </p:sp>
    </p:spTree>
    <p:extLst>
      <p:ext uri="{BB962C8B-B14F-4D97-AF65-F5344CB8AC3E}">
        <p14:creationId xmlns:p14="http://schemas.microsoft.com/office/powerpoint/2010/main" val="964483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45EBB-3A13-6F2C-F78D-93CB05F57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047999"/>
            <a:ext cx="10963655" cy="762001"/>
          </a:xfrm>
        </p:spPr>
        <p:txBody>
          <a:bodyPr/>
          <a:lstStyle/>
          <a:p>
            <a:pPr algn="ctr"/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801391466"/>
      </p:ext>
    </p:extLst>
  </p:cSld>
  <p:clrMapOvr>
    <a:masterClrMapping/>
  </p:clrMapOvr>
</p:sld>
</file>

<file path=ppt/theme/theme1.xml><?xml version="1.0" encoding="utf-8"?>
<a:theme xmlns:a="http://schemas.openxmlformats.org/drawingml/2006/main" name="Blockwork elegance">
  <a:themeElements>
    <a:clrScheme name="Blockwork Elegance- Copilot 1">
      <a:dk1>
        <a:srgbClr val="000000"/>
      </a:dk1>
      <a:lt1>
        <a:srgbClr val="FFFFFF"/>
      </a:lt1>
      <a:dk2>
        <a:srgbClr val="000102"/>
      </a:dk2>
      <a:lt2>
        <a:srgbClr val="F6F2E6"/>
      </a:lt2>
      <a:accent1>
        <a:srgbClr val="28436C"/>
      </a:accent1>
      <a:accent2>
        <a:srgbClr val="F3BC24"/>
      </a:accent2>
      <a:accent3>
        <a:srgbClr val="8E7B63"/>
      </a:accent3>
      <a:accent4>
        <a:srgbClr val="CC563B"/>
      </a:accent4>
      <a:accent5>
        <a:srgbClr val="A3452F"/>
      </a:accent5>
      <a:accent6>
        <a:srgbClr val="BB9D83"/>
      </a:accent6>
      <a:hlink>
        <a:srgbClr val="4E60DA"/>
      </a:hlink>
      <a:folHlink>
        <a:srgbClr val="4E6094"/>
      </a:folHlink>
    </a:clrScheme>
    <a:fontScheme name="Blockwork Elegance">
      <a:majorFont>
        <a:latin typeface="Bahnschrift Semi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work elegance_fcaeb239-e0ad-43c4-9739-4084ddd7c62f_wac_v2" id="{21E82CDE-DB0F-446A-AB1C-C548E4C4E61C}" vid="{FC4C4127-EA88-45F9-9442-09B36E6C91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{C71BEF75-B76B-4AC8-9F76-A28D938B5D1A}0f45c1b8-b519-4737-8f12-a18148944ef7-TFfcaeb239-e0ad-43c4-9739-4084ddd7c62fe496f549_win32</Template>
  <TotalTime>476</TotalTime>
  <Words>681</Words>
  <Application>Microsoft Office PowerPoint</Application>
  <PresentationFormat>Widescreen</PresentationFormat>
  <Paragraphs>108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Bahnschrift SemiLight</vt:lpstr>
      <vt:lpstr>Blockwork elegance</vt:lpstr>
      <vt:lpstr>Personal Knowledge Assistant</vt:lpstr>
      <vt:lpstr>Objective :-</vt:lpstr>
      <vt:lpstr>What is Generative AI &amp; RAG?</vt:lpstr>
      <vt:lpstr>Implemented System Architecture</vt:lpstr>
      <vt:lpstr>Document Processing, Chunking &amp; Embeddings</vt:lpstr>
      <vt:lpstr>Retrieval &amp; Response Generation</vt:lpstr>
      <vt:lpstr>PowerPoint Presentation</vt:lpstr>
      <vt:lpstr>Technology Stack</vt:lpstr>
      <vt:lpstr>Live Demonstration</vt:lpstr>
      <vt:lpstr>Testing, Observations &amp; Limitations</vt:lpstr>
      <vt:lpstr>Learnings &amp; 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Krupaksh Kenkre</dc:creator>
  <cp:lastModifiedBy>Krupaksh Kenkre</cp:lastModifiedBy>
  <cp:revision>11</cp:revision>
  <dcterms:created xsi:type="dcterms:W3CDTF">2026-08-31T13:01:16Z</dcterms:created>
  <dcterms:modified xsi:type="dcterms:W3CDTF">2026-09-30T16:09:58Z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